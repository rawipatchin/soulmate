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-1143000"/>
            <a:ext cx="5577840" cy="5577840"/>
          </a:xfrm>
          <a:prstGeom prst="ellipse">
            <a:avLst/>
          </a:prstGeom>
          <a:solidFill>
            <a:srgbClr val="1B5B4E"/>
          </a:solidFill>
          <a:ln w="12700">
            <a:solidFill>
              <a:srgbClr val="1B5B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73152"/>
            <a:ext cx="3154680" cy="3154680"/>
          </a:xfrm>
          <a:prstGeom prst="ellipse">
            <a:avLst/>
          </a:prstGeom>
          <a:solidFill>
            <a:srgbClr val="D5ECE4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868680"/>
            <a:ext cx="1508760" cy="1298448"/>
          </a:xfrm>
          <a:prstGeom prst="heart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303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9E4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/  คู่มือส่งมอบ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45920"/>
            <a:ext cx="6400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คู่มือการใช้งาน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และส่งมอบระบบ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85800" y="34564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6DFD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ร้านค้าออนไลน์  •  คำสั่งซื้อ  •  การชำระเงิน  •  หลังบ้าน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47548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9D8C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หน้าร้าน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96312" y="47548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9D8C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96312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คำสั่งซื้อ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79392" y="47548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9D8C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79392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หลังบ้าน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62472" y="47548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9D8C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62472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ส่งมอบ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" y="62179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B9D6C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DRAFT 2  •  20 ตุลาคม 2569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C7B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ตัวเลขและหน้าจอเป็นตัวอย่าง • ตรวจข้อมูลจริงก่อนดำเนินการ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เริ่มต้น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เส้นทางใช้งานระบบ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ทำตามลำดับงานฝั่งลูกค้าและฝั่งแอดมิน โดยตรวจสถานะก่อนขยับขั้นตอน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EAF5F1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2441448"/>
            <a:ext cx="292608" cy="292608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4460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หน้าแรก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13432" y="2743200"/>
            <a:ext cx="521208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331720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EAF5F1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2441448"/>
            <a:ext cx="292608" cy="292608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4460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487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3712" y="2743200"/>
            <a:ext cx="521208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331720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EAF5F1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2441448"/>
            <a:ext cx="292608" cy="292608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24460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2487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93992" y="2743200"/>
            <a:ext cx="521208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2331720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EAF5F1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944" y="2441448"/>
            <a:ext cx="292608" cy="292608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24460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9560" y="2487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ตะกร้า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34272" y="2743200"/>
            <a:ext cx="521208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46920" y="2331720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9ECF4"/>
          </a:solidFill>
          <a:ln w="12700">
            <a:solidFill>
              <a:srgbClr val="E9C9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93224" y="2441448"/>
            <a:ext cx="292608" cy="292608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93224" y="24460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49840" y="2487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" y="3657600"/>
            <a:ext cx="5166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380390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ชำระล่วงหน้า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" y="407822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PromptPay QR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86968" y="4507992"/>
            <a:ext cx="4764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โอนตามยอด • ส่งสลิปภายใน 24 ชั่วโมง • รอแอดมินตรวจรายการเงินเข้าจริงก่อนอนุมัติ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3657600"/>
            <a:ext cx="5166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380390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ชำระเมื่อรับสินค้า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64808" y="407822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เก็บเงินปลายทาง (COD)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464808" y="4507992"/>
            <a:ext cx="4764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รอแอดมินยืนยันรับออเดอร์ก่อนเตรียมสินค้า • ชำระกับผู้จัดส่งเมื่อได้รับพัสดุ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หากข้อมูลไม่ตรง หรือเปิดสลิปไม่ได้ ให้หยุดรายการและติดต่อผู้รับผิดชอบ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หน้าร้าน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เริ่มจากหน้าแรก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เมนูหลัก ค้นหาสินค้า และแชทช่วยเหลืออยู่ในหน้าร้านเดียวกัน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69037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92808"/>
            <a:ext cx="686714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38528"/>
            <a:ext cx="6574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หน้าร้าน SOULMATE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หน้าแรก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76472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เกี่ยวกับเรา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6355080" cy="475488"/>
          </a:xfrm>
          <a:prstGeom prst="roundRect">
            <a:avLst>
              <a:gd name="adj" fmla="val 23077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8529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58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ค้นหาสินค้า…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3493008"/>
            <a:ext cx="6355080" cy="1700784"/>
          </a:xfrm>
          <a:prstGeom prst="roundRect">
            <a:avLst>
              <a:gd name="adj" fmla="val 6452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38587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เลือกดูสินค้าเพื่อเริ่มต้น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ค้นหาและเปิดการ์ดสินค้าที่สนใจ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700016"/>
            <a:ext cx="530352" cy="530352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73659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♡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8028432" y="216712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17170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85632" y="2148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เปิดสินค้า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85632" y="24597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 “สินค้า” ที่เมนูด้านบน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28432" y="326440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32689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85632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85632" y="355701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พิมพ์ชื่อในช่องค้นหา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28432" y="4361688"/>
            <a:ext cx="329184" cy="329184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43662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85632" y="43434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แชทช่วยเหลือ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85632" y="465429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กดมาสคอตหัวใจที่มุมขวาล่าง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สินค้า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ค้นหาแล้วเลือกสินค้า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ใช้ช่องค้นหาและการ์ดสินค้าเพื่อนำทางจากรายการไปยังรายละเอียด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6903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65376"/>
            <a:ext cx="686714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6574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รายการสินค้า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832" y="2304288"/>
            <a:ext cx="6382512" cy="438912"/>
          </a:xfrm>
          <a:prstGeom prst="roundRect">
            <a:avLst>
              <a:gd name="adj" fmla="val 25000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774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ค้นหาสินค้า…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0976" y="2980944"/>
            <a:ext cx="1920240" cy="241401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3090672"/>
            <a:ext cx="1700784" cy="1170432"/>
          </a:xfrm>
          <a:prstGeom prst="roundRect">
            <a:avLst>
              <a:gd name="adj" fmla="val 9375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52958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VITAMIN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407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สินค้าบำรุงสุขภาพ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4800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590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90672" y="2980944"/>
            <a:ext cx="1920240" cy="241401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090672"/>
            <a:ext cx="1700784" cy="1170432"/>
          </a:xfrm>
          <a:prstGeom prst="roundRect">
            <a:avLst>
              <a:gd name="adj" fmla="val 9375"/>
            </a:avLst>
          </a:prstGeom>
          <a:solidFill>
            <a:srgbClr val="F9ECF4"/>
          </a:solidFill>
          <a:ln w="12700">
            <a:solidFill>
              <a:srgbClr val="F9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52958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COLLAGEN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36976" y="4407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ผลิตภัณฑ์ดูแลผิว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36976" y="4800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590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30368" y="2980944"/>
            <a:ext cx="1920240" cy="241401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0096" y="3090672"/>
            <a:ext cx="1700784" cy="1170432"/>
          </a:xfrm>
          <a:prstGeom prst="roundRect">
            <a:avLst>
              <a:gd name="adj" fmla="val 9375"/>
            </a:avLst>
          </a:prstGeom>
          <a:solidFill>
            <a:srgbClr val="F8F6EF"/>
          </a:solidFill>
          <a:ln w="12700">
            <a:solidFill>
              <a:srgbClr val="F8F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52958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A2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SUPPLEMENT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4407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วิตามินรวม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76672" y="4800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590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28432" y="216712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17170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85632" y="2148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85632" y="24597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กดช่องค้นหาแล้วพิมพ์คำ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28432" y="326440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32689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85632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เปิดสินค้า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85632" y="355701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กดรูปหรือชื่อสินค้าที่ต้องการ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28432" y="4361688"/>
            <a:ext cx="329184" cy="329184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43662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85632" y="43434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ตรวจตะกร้า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85632" y="465429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กดไอคอนตะกร้าด้านบน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8680" y="6099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ภาพตัวอย่างการจัดวาง • ตรวจราคาและสต็อกจริงในระบบ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รายละเอียดสินค้า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เลือกวิธีซื้อ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ตรวจตัวเลือกสินค้า ราคา และสต็อก ก่อนเพิ่มลงตะกร้าหรือสั่งซื้อทันที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47088"/>
            <a:ext cx="682142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92808"/>
            <a:ext cx="6528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รายละเอียดสินค้า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" y="2331720"/>
            <a:ext cx="2788920" cy="3182112"/>
          </a:xfrm>
          <a:prstGeom prst="roundRect">
            <a:avLst>
              <a:gd name="adj" fmla="val 3934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ภาพสินค้า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ชื่อสินค้า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746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77640" y="3529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ตัวเลือกสินค้า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77640" y="3840480"/>
            <a:ext cx="2560320" cy="429768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3931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เลือกขนาด / สูตร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77640" y="4498848"/>
            <a:ext cx="2560320" cy="384048"/>
          </a:xfrm>
          <a:prstGeom prst="roundRect">
            <a:avLst>
              <a:gd name="adj" fmla="val 28571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45171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เพิ่มลงตะกร้า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5010912"/>
            <a:ext cx="2560320" cy="384048"/>
          </a:xfrm>
          <a:prstGeom prst="roundRect">
            <a:avLst>
              <a:gd name="adj" fmla="val 28571"/>
            </a:avLst>
          </a:prstGeom>
          <a:solidFill>
            <a:srgbClr val="F9ECF4"/>
          </a:solidFill>
          <a:ln w="12700">
            <a:solidFill>
              <a:srgbClr val="F9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502920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สั่งซื้อทันที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28432" y="244144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4460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85632" y="2423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เพิ่มลงตะกร้า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85632" y="273405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กดปุ่มเพิ่มลงตะกร้า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28432" y="3675888"/>
            <a:ext cx="329184" cy="329184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36804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85632" y="3657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ไปตะกร้า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85632" y="396849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กดไอคอนตะกร้าด้านบนเพื่อตรวจรายการ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28432" y="4892040"/>
            <a:ext cx="3493008" cy="1097280"/>
          </a:xfrm>
          <a:prstGeom prst="roundRect">
            <a:avLst>
              <a:gd name="adj" fmla="val 10000"/>
            </a:avLst>
          </a:prstGeom>
          <a:solidFill>
            <a:srgbClr val="F8F6E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09320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ทางลัด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5522976"/>
            <a:ext cx="3090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 “สั่งซื้อทันที” เริ่มซื้อได้โดยตรง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ตะกร้า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ตรวจรายการและยอดรวม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ปรับจำนวน ลบสินค้า และตรวจคูปองหรือค่าส่ง ก่อนดำเนินการชำระเงิน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6812280" cy="4041648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74520"/>
            <a:ext cx="677570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20240"/>
            <a:ext cx="648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ตะกร้าสินค้า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23317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2880360"/>
            <a:ext cx="6291072" cy="0"/>
          </a:xfrm>
          <a:prstGeom prst="line">
            <a:avLst/>
          </a:prstGeom>
          <a:noFill/>
          <a:ln w="1016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990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−   1   +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9900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746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21424" y="2990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2688" y="3538728"/>
            <a:ext cx="6291072" cy="0"/>
          </a:xfrm>
          <a:prstGeom prst="line">
            <a:avLst/>
          </a:prstGeom>
          <a:noFill/>
          <a:ln w="10160">
            <a:solidFill>
              <a:srgbClr val="DCE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48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648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−   2   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6484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1,132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21424" y="3648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ลบ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2688" y="4462272"/>
            <a:ext cx="3749040" cy="438912"/>
          </a:xfrm>
          <a:prstGeom prst="roundRect">
            <a:avLst>
              <a:gd name="adj" fmla="val 25000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5537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รหัสคูปอง (ถ้ามี)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65192" y="4334256"/>
            <a:ext cx="2267712" cy="1060704"/>
          </a:xfrm>
          <a:prstGeom prst="roundRect">
            <a:avLst>
              <a:gd name="adj" fmla="val 10345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446227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       ฿ 1,878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จัดส่ง             ฿ 30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ยอดรวม      ฿ 1,908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2212848"/>
            <a:ext cx="3566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23591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10728" y="26334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ปรับจำนวน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10728" y="3063240"/>
            <a:ext cx="3163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ใช้ปุ่ม + หรือ − ตามต้องการ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7909560" y="3621024"/>
            <a:ext cx="3566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376732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10728" y="404164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เอาออก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10728" y="4471416"/>
            <a:ext cx="3163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 “ลบ” หากไม่ต้องการสินค้า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7909560" y="489204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503834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 CHECKOUT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10728" y="5312664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ตรวจยอด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110728" y="5742432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ตรวจส่วนลด ค่าส่ง และยอดรวม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68680" y="61081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หลังตรวจรายการแล้ว เลื่อนลงในหน้าเดียวกันเพื่อไปขั้นตอนชำระเงิน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CHECKOUT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กรอกข้อมูลผู้ซื้อและที่อยู่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ข้อมูลติดต่อและที่อยู่จัดส่งที่จำเป็นต้องครบก่อนยืนยันคำสั่งซื้อ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" y="1828800"/>
            <a:ext cx="7406640" cy="416966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847088"/>
            <a:ext cx="737006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92808"/>
            <a:ext cx="7077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286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ข้อมูลผู้ซื้อ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24505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2688" y="265176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4505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นามสกุล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4505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เบอร์โทร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2651760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10896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อีเมล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2688" y="3310128"/>
            <a:ext cx="3246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776472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ที่อยู่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2688" y="3977640"/>
            <a:ext cx="68122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4439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ตำบล / อำเภอ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" y="4645152"/>
            <a:ext cx="32461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4443984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จังหวัด / รหัสไปรษณีย์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4645152"/>
            <a:ext cx="3282696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2212848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2414016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ข้อมูลผู้ซื้อ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59368" y="284378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 นามสกุล เบอร์โทร และอีเมล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58200" y="3456432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9368" y="36576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ที่อยู่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59368" y="4087368"/>
            <a:ext cx="26151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ที่อยู่ ตำบล อำเภอ จังหวัด และรหัสไปรษณีย์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58200" y="47548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9ECF4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9368" y="495604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สรุปยอด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59368" y="5385816"/>
            <a:ext cx="26151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ตรวจสินค้า ค่าส่ง และยอดรวม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CHECKOUT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เลือกจัดส่งและชำระเงิน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เลือกบริการจัดส่งหนึ่งแบบ และวิธีชำระเงินที่ร้านเปิดใช้งาน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38528"/>
            <a:ext cx="3474720" cy="2395728"/>
          </a:xfrm>
          <a:prstGeom prst="roundRect">
            <a:avLst>
              <a:gd name="adj" fmla="val 4580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84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เลือกจัดส่ง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23591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ส่งปกติ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2788920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เลือกบริการมาตรฐาน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ตรวจค่าส่งและเกณฑ์ส่งฟรี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1938528"/>
            <a:ext cx="347472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84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เลือกจัดส่ง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3591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ส่งด่วน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เลือกบริการด่วน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ตรวจค่าส่งและเกณฑ์ส่งฟรี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938528"/>
            <a:ext cx="3474720" cy="2395728"/>
          </a:xfrm>
          <a:prstGeom prst="roundRect">
            <a:avLst>
              <a:gd name="adj" fmla="val 4580"/>
            </a:avLst>
          </a:prstGeom>
          <a:solidFill>
            <a:srgbClr val="F9ECF4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084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เลือกชำระ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47888" y="23591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PromptPay QR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47888" y="2788920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สแกนตามยอดรวม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ส่งสลิปภายใน 24 ชั่วโมง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8F6E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76402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69A2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เลือกชำระ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" y="503834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เก็บเงินปลายทาง (COD)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6968" y="5468112"/>
            <a:ext cx="3072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ชำระกับผู้จัดส่งเมื่อได้รับสินค้า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34840" y="48280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ตรวจยอดรวมและข้อมูลทั้งหมด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46720" y="4736592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4754880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ยืนยันคำสั่งซื้อ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07161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วิธีชำระที่แสดงขึ้นกับการตั้งค่าร้าน • หากยังไม่เปิด ให้ติดต่อผู้ดูแลก่อนสั่งซื้อ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หลังสั่งซื้อ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เก็บเลขคำสั่งซื้อและทำขั้นตอนถัดไป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หน้าผลลัพธ์แสดงเลขออเดอร์ ยอดรวม และสถานะตามวิธีชำระ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35640" cy="822960"/>
          </a:xfrm>
          <a:prstGeom prst="roundRect">
            <a:avLst>
              <a:gd name="adj" fmla="val 13333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11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บันทึกคำสั่งซื้อแล้ว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0" y="2057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เลขคำสั่งซื้อ  SM-20260001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5166360" cy="2121408"/>
          </a:xfrm>
          <a:prstGeom prst="roundRect">
            <a:avLst>
              <a:gd name="adj" fmla="val 5172"/>
            </a:avLst>
          </a:prstGeom>
          <a:solidFill>
            <a:srgbClr val="F9ECF4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20954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ชำระล่วงหน้า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348386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PromptPay QR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913632"/>
            <a:ext cx="4764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เปิด QR ตามยอดที่ระบบแสดง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โอนให้ตรงยอดและส่งสลิปใน 24 ชั่วโมง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รอแอดมินตรวจเงินเข้าจริง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“รอตรวจสลิป” ยังไม่ใช่ชำระสำเร็จ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5166360" cy="2121408"/>
          </a:xfrm>
          <a:prstGeom prst="roundRect">
            <a:avLst>
              <a:gd name="adj" fmla="val 5172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20954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64808" y="348386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เก็บเงินปลายทาง (COD)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64808" y="3913632"/>
            <a:ext cx="4764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ยืนยันคำสั่งซื้อ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รอร้านยืนยันรับออเดอร์ COD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จ่ายเงินให้ผู้จัดส่งเมื่อได้รับสินค้า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650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ยอดตัวอย่าง  ฿ 1,908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0832" y="5669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ระบบตัวอย่างยังไม่มีอีเมลยืนยันอัตโนมัติ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608076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สมาชิกดูย้อนหลังได้ที่บัญชี  •  Guest ให้เก็บเลขออเดอร์และใช้ session เดิม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ติดตามคำสั่งซื้อ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เปิดดูสถานะคำสั่งซื้อ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สมาชิกดูประวัติจากบัญชี ส่วน guest ต้องเก็บข้อมูลอ้างอิงใน session เดิม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395728" cy="1554480"/>
          </a:xfrm>
          <a:prstGeom prst="roundRect">
            <a:avLst>
              <a:gd name="adj" fmla="val 7059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29514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2569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รอชำระ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999232"/>
            <a:ext cx="1993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ส่งสลิปภายในกำหนด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36392" y="2926080"/>
            <a:ext cx="310896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38728" y="2148840"/>
            <a:ext cx="2395728" cy="1554480"/>
          </a:xfrm>
          <a:prstGeom prst="roundRect">
            <a:avLst>
              <a:gd name="adj" fmla="val 7059"/>
            </a:avLst>
          </a:prstGeom>
          <a:solidFill>
            <a:srgbClr val="F9ECF4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29514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39896" y="2569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รอตรวจสลิป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39896" y="2999232"/>
            <a:ext cx="1993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รอร้านตรวจเงินเข้า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926080"/>
            <a:ext cx="310896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91656" y="2148840"/>
            <a:ext cx="2395728" cy="1554480"/>
          </a:xfrm>
          <a:prstGeom prst="roundRect">
            <a:avLst>
              <a:gd name="adj" fmla="val 7059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229514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92824" y="2569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ชำระแล้ว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92824" y="2999232"/>
            <a:ext cx="1993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เตรียมจัดส่ง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42248" y="2926080"/>
            <a:ext cx="310896" cy="0"/>
          </a:xfrm>
          <a:prstGeom prst="line">
            <a:avLst/>
          </a:prstGeom>
          <a:noFill/>
          <a:ln w="25400">
            <a:solidFill>
              <a:srgbClr val="087B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44584" y="2148840"/>
            <a:ext cx="2395728" cy="1554480"/>
          </a:xfrm>
          <a:prstGeom prst="roundRect">
            <a:avLst>
              <a:gd name="adj" fmla="val 7059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45752" y="229514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45752" y="2569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จัดส่งแล้ว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45752" y="2999232"/>
            <a:ext cx="1993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ติดตามเลขพัสดุ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51663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306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บัญชี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" y="4581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ลูกค้าที่เป็นสมาชิก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86968" y="5010912"/>
            <a:ext cx="47640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 “บัญชี” แล้วเลือก “คำสั่งซื้อของฉัน” เพื่อดูสถานะและรายละเอียด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160520"/>
            <a:ext cx="51663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306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GUEST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64808" y="4581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ผู้ซื้อแบบ Guest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47640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เก็บเลขออเดอร์และลิงก์ไว้</a:t>
            </a:r>
            <a:endParaRPr lang="en-US" sz="12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เปิดจาก session เดิม • ยังไม่ผูกกับบัญชีที่สมัครภายหลัง</a:t>
            </a:r>
            <a:endParaRPr lang="en-US" sz="12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 / รายละเอียดออเดอร์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ดูรายละเอียดออเดอร์ของตัวเอง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เปิดได้จาก “คำสั่งซื้อของฉัน” • แสดงข้อมูลรายการ ยอดรวม และความคืบหน้าล่าสุด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1083564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574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ความคืบหน้าคำสั่งซื้อ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852928"/>
            <a:ext cx="9555480" cy="73152"/>
          </a:xfrm>
          <a:prstGeom prst="roundRect">
            <a:avLst>
              <a:gd name="adj" fmla="val 150000"/>
            </a:avLst>
          </a:prstGeom>
          <a:solidFill>
            <a:srgbClr val="DCE7E2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852928"/>
            <a:ext cx="3182112" cy="73152"/>
          </a:xfrm>
          <a:prstGeom prst="roundRect">
            <a:avLst>
              <a:gd name="adj" fmla="val 150000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26700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" y="315468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รับออเดอร์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97096" y="26700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21608" y="315468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ยืนยันชำระเงิน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9208" y="26700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9208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15468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เตรียมสินค้า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70464" y="26700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70464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94976" y="315468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ส่งให้ขนส่ง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2075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ร้านกำลังตรวจสอบสลิป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611880"/>
            <a:ext cx="6720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758184"/>
            <a:ext cx="6318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SM-20260001  •  20 ต.ค. 2569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" y="4032504"/>
            <a:ext cx="6318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รายการสินค้า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" y="4462272"/>
            <a:ext cx="63185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A · รุ่นมาตรฐาน     × 1                         ฿ 746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B · สีธรรมชาติ           × 2                         ฿ 1,132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26680" y="361188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7848" y="3758184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ยอดรวม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27848" y="4032504"/>
            <a:ext cx="3392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สรุปคำสั่งซื้อ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27848" y="4462272"/>
            <a:ext cx="33924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ยอดสินค้า                         ฿ 1,878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ค่าจัดส่ง                             ฿ 30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รวมทั้งสิ้น                         ฿ 1,908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วิธีชำระ  PromptPay · รอตรวจสลิป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96188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ชื่อผู้รับและที่อยู่จัดส่งแสดงในหน้ารายละเอียด • เลข Tracking จะแสดงหลังร้านบันทึกเลขพัสดุ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ภาพรวม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เลือกเมนูตามงาน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ใช้บัญชีผู้ดูแลที่ได้รับสิทธิ์ แล้วไปยังส่วนจัดการที่ต้องการ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EAF5F1"/>
          </a:solidFill>
          <a:ln w="12700">
            <a:solidFill>
              <a:srgbClr val="D5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786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▦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ดูราคาและสต็อก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2514600"/>
            <a:ext cx="347472" cy="34747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519172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9ECF4"/>
          </a:solidFill>
          <a:ln w="12700">
            <a:solidFill>
              <a:srgbClr val="E9C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5786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▤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Orders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5488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ตรวจออเดอร์ สลิป หรือ COD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9752" y="2514600"/>
            <a:ext cx="347472" cy="347472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2519172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7532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8F6EF"/>
          </a:solidFill>
          <a:ln w="12700">
            <a:solidFill>
              <a:srgbClr val="E7D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5786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9A2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➜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549640" y="34015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Fulfillment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54964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เตรียมพัสดุและอัปเดตส่ง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54512" y="2514600"/>
            <a:ext cx="347472" cy="347472"/>
          </a:xfrm>
          <a:prstGeom prst="ellipse">
            <a:avLst/>
          </a:prstGeom>
          <a:solidFill>
            <a:srgbClr val="D69A22"/>
          </a:solidFill>
          <a:ln w="12700">
            <a:solidFill>
              <a:srgbClr val="D69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54512" y="2519172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3218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เมนูและข้อมูลที่เห็นขึ้นกับ role ของบัญชี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57424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Super Admin มีเมนูจัดการผู้ดูแลและสิทธิ์เพิ่มเติม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ORDERS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ค้นหาและเปิดออเดอร์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กรองสถานะก่อนเลือกแถว แล้วเปิดรายละเอียดเต็มเพื่อจัดการรายการ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73609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74520"/>
            <a:ext cx="732434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20240"/>
            <a:ext cx="7031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Orders / คำสั่งซื้อ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832" y="2313432"/>
            <a:ext cx="1444752" cy="384048"/>
          </a:xfrm>
          <a:prstGeom prst="roundRect">
            <a:avLst>
              <a:gd name="adj" fmla="val 28571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3774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ทั้งหมด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313432"/>
            <a:ext cx="1444752" cy="384048"/>
          </a:xfrm>
          <a:prstGeom prst="roundRect">
            <a:avLst>
              <a:gd name="adj" fmla="val 28571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3774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รอโอน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42232" y="2313432"/>
            <a:ext cx="1444752" cy="384048"/>
          </a:xfrm>
          <a:prstGeom prst="roundRect">
            <a:avLst>
              <a:gd name="adj" fmla="val 28571"/>
            </a:avLst>
          </a:prstGeom>
          <a:solidFill>
            <a:srgbClr val="F9ECF4"/>
          </a:solidFill>
          <a:ln w="12700">
            <a:solidFill>
              <a:srgbClr val="E9C9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23774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รอตรวจสลิป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42432" y="2313432"/>
            <a:ext cx="1444752" cy="384048"/>
          </a:xfrm>
          <a:prstGeom prst="roundRect">
            <a:avLst>
              <a:gd name="adj" fmla="val 28571"/>
            </a:avLst>
          </a:prstGeom>
          <a:solidFill>
            <a:srgbClr val="F3F7F5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7296" y="23774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รอยืนยัน COD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9264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เลขออเดอร์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80944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58384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ยอดรวม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38544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2688" y="3364992"/>
            <a:ext cx="6885432" cy="0"/>
          </a:xfrm>
          <a:prstGeom prst="line">
            <a:avLst/>
          </a:prstGeom>
          <a:noFill/>
          <a:ln w="8890">
            <a:solidFill>
              <a:srgbClr val="DCE7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SM-20260001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80944" y="3438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กานต์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58384" y="34381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1,908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38544" y="34381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รอตรวจ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2688" y="3977640"/>
            <a:ext cx="6885432" cy="0"/>
          </a:xfrm>
          <a:prstGeom prst="line">
            <a:avLst/>
          </a:prstGeom>
          <a:noFill/>
          <a:ln w="8890">
            <a:solidFill>
              <a:srgbClr val="DCE7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SM-20260002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80944" y="40507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นิดา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58384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447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38544" y="4050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รอโอน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2688" y="4590288"/>
            <a:ext cx="6885432" cy="0"/>
          </a:xfrm>
          <a:prstGeom prst="line">
            <a:avLst/>
          </a:prstGeom>
          <a:noFill/>
          <a:ln w="8890">
            <a:solidFill>
              <a:srgbClr val="DCE7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SM-20260003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80944" y="4663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มานะ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58384" y="4663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790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38544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 COD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12480" y="2286000"/>
            <a:ext cx="301752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1364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กรองสถานะ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13648" y="2916936"/>
            <a:ext cx="2615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เลือกแท็บ เช่น “รอตรวจสลิป”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12480" y="3611880"/>
            <a:ext cx="301752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13648" y="381304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เลือกรายการ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613648" y="4242816"/>
            <a:ext cx="2615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กดแถวออเดอร์ที่ต้องจัดการ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12480" y="4937760"/>
            <a:ext cx="301752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13648" y="513892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เปิดรายละเอียด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13648" y="5568696"/>
            <a:ext cx="2615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กดไอคอนเพื่อดูรายละเอียดเต็ม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ตรวจเงิน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ตรวจสลิปก่อนอนุมัติ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ตัวอย่างยอดสลิปไม่ตรงกับยอดออเดอร์: ห้ามอนุมัติ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6720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ยอดออเดอร์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447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79392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ยอดในสลิป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9392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429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456432" y="2487168"/>
            <a:ext cx="0" cy="1216152"/>
          </a:xfrm>
          <a:prstGeom prst="line">
            <a:avLst/>
          </a:prstGeom>
          <a:noFill/>
          <a:ln w="17780">
            <a:solidFill>
              <a:srgbClr val="DCE7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3767328"/>
            <a:ext cx="5989320" cy="621792"/>
          </a:xfrm>
          <a:prstGeom prst="roundRect">
            <a:avLst>
              <a:gd name="adj" fmla="val 17647"/>
            </a:avLst>
          </a:prstGeom>
          <a:solidFill>
            <a:srgbClr val="F9ECF4"/>
          </a:solidFill>
          <a:ln w="12700">
            <a:solidFill>
              <a:srgbClr val="E9C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9044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ยอดไม่ตรงกัน  •  หยุดการอนุมัติ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" y="45902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ตรวจผู้รับและรายการเงินเข้าจริงด้วย ไม่ใช้ภาพสลิปอย่างเดียว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09560" y="216712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217170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เทียบข้อมูล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4597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 ผู้รับ และเงินเข้าจริง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3355848"/>
            <a:ext cx="329184" cy="329184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33604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337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ยืนยันการตรวจ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364845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ติ๊กเมื่อข้อมูลตรงและตรวจเงินเข้าแล้ว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9560" y="454456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454914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26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อนุมัติ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83717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กดหลังผ่านการตรวจเท่านั้น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58064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ตัวอย่างนี้: ห้ามติ๊กและห้ามกดอนุมัติ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FULFILLMENT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เตรียมและส่งพัสดุ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จัดการคิว เอกสาร และ Tracking โดยแยกสถานะจัดส่งออกจากสถานะรับเงิน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438912" cy="43891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5341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กรองคิว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สถานะจัดส่ง / วิธีชำระ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15768" y="2368296"/>
            <a:ext cx="685800" cy="0"/>
          </a:xfrm>
          <a:prstGeom prst="line">
            <a:avLst/>
          </a:prstGeom>
          <a:noFill/>
          <a:ln w="25400">
            <a:solidFill>
              <a:srgbClr val="D5ECE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02736" y="2148840"/>
            <a:ext cx="438912" cy="43891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15341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เลือกออเดอร์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47872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เลือกแถวหรือช่วงเลข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05272" y="2368296"/>
            <a:ext cx="685800" cy="0"/>
          </a:xfrm>
          <a:prstGeom prst="line">
            <a:avLst/>
          </a:prstGeom>
          <a:noFill/>
          <a:ln w="25400">
            <a:solidFill>
              <a:srgbClr val="D5ECE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2148840"/>
            <a:ext cx="438912" cy="43891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15341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พิมพ์เอกสาร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37376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ใบปะหน้า / ใบแพ็กของ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94776" y="2368296"/>
            <a:ext cx="685800" cy="0"/>
          </a:xfrm>
          <a:prstGeom prst="line">
            <a:avLst/>
          </a:prstGeom>
          <a:noFill/>
          <a:ln w="25400">
            <a:solidFill>
              <a:srgbClr val="D5ECE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81744" y="2148840"/>
            <a:ext cx="438912" cy="438912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215341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อัปเดต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พร้อมส่ง → ส่งแล้ว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5166360" cy="1298448"/>
          </a:xfrm>
          <a:prstGeom prst="roundRect">
            <a:avLst>
              <a:gd name="adj" fmla="val 8451"/>
            </a:avLst>
          </a:prstGeom>
          <a:solidFill>
            <a:srgbClr val="F9ECF4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306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จุดควบคุม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" y="4581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 ก่อนจัดเตรียม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86968" y="5010912"/>
            <a:ext cx="4764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 “รับ COD” เมื่อผู้จัดส่งส่งเงินให้ร้านแล้ว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160520"/>
            <a:ext cx="5166360" cy="1298448"/>
          </a:xfrm>
          <a:prstGeom prst="roundRect">
            <a:avLst>
              <a:gd name="adj" fmla="val 8451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306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หลังส่ง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64808" y="4581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บันทึกเลข Tracking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4764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กรอกเลขพัสดุหลังส่งจริง และตรวจข้อมูลผู้รับก่อนพิมพ์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72414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ตรวจตัวอย่างก่อนพิมพ์ • A4 เลือก 4 ใบต่อแผ่น หรือ 2 ใบตัวอักษรใหญ่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998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ใบปะหน้า COD ระบุยอดเรียกเก็บ • ออเดอร์ชำระล่วงหน้าระบุไม่ต้องเก็บเงิน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สินค้า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จัดการสินค้าและสต็อก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ตรวจจำนวน ราคา และสถานะก่อนแก้ไขข้อมูลสินค้า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572768" cy="384048"/>
          </a:xfrm>
          <a:prstGeom prst="roundRect">
            <a:avLst>
              <a:gd name="adj" fmla="val 28571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9280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เพิ่มสินค้า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187452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956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ค้นหาชื่อสินค้า…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51460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25146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สต็อก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2259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2944368"/>
            <a:ext cx="7662672" cy="557784"/>
          </a:xfrm>
          <a:prstGeom prst="roundRect">
            <a:avLst>
              <a:gd name="adj" fmla="val 1967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746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22592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เผยแพร่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3630168"/>
            <a:ext cx="7662672" cy="557784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566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2592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เผยแพร่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4315968"/>
            <a:ext cx="7662672" cy="557784"/>
          </a:xfrm>
          <a:prstGeom prst="roundRect">
            <a:avLst>
              <a:gd name="adj" fmla="val 19672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434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ผลิตภัณฑ์ 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฿ 1,079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22592" y="4434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หมดสต็อก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23960" y="2148840"/>
            <a:ext cx="2651760" cy="1042416"/>
          </a:xfrm>
          <a:prstGeom prst="roundRect">
            <a:avLst>
              <a:gd name="adj" fmla="val 10526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5128" y="2350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เพิ่มสินค้า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25128" y="2779776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เริ่มจากปุ่มด้านบน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23960" y="3474720"/>
            <a:ext cx="26517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5128" y="367588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 ค้นหา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25128" y="4105656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พิมพ์ชื่อสินค้า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23960" y="4800600"/>
            <a:ext cx="26517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25128" y="500176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 ตรวจรายการ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025128" y="5431536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ดูราคา สต็อก และสถานะ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สร้างสินค้า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บันทึกร่างหรือเผยแพร่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กรอกข้อมูลที่จำเป็นและตรวจตัวเลือกสินค้า ก่อนแสดงบนหน้าร้าน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6903720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C7D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65376"/>
            <a:ext cx="6867144" cy="310896"/>
          </a:xfrm>
          <a:prstGeom prst="roundRect">
            <a:avLst>
              <a:gd name="adj" fmla="val 23529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11096"/>
            <a:ext cx="6574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เพิ่มสินค้าใหม่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" y="2304288"/>
            <a:ext cx="1389888" cy="1298448"/>
          </a:xfrm>
          <a:prstGeom prst="roundRect">
            <a:avLst>
              <a:gd name="adj" fmla="val 8451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7063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＋  อัปโหลดรูป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217627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ชื่อสินค้า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2359152"/>
            <a:ext cx="45262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8163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2999232"/>
            <a:ext cx="45262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94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397764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2656" y="3794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สต็อก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62656" y="397764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794760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น้ำหนัก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3480" y="3977640"/>
            <a:ext cx="212140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51663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518464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บันทึกร่าง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51663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518464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เผยแพร่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28432" y="235000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3545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2331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อัปโหลดรูป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85632" y="264261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กดพื้นที่รูปแล้วเลือกไฟล์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8432" y="3538728"/>
            <a:ext cx="329184" cy="329184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354330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85632" y="35204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บันทึกร่าง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38313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ใช้เมื่อยังไม่พร้อมแสดงหน้าร้าน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28432" y="4727448"/>
            <a:ext cx="329184" cy="329184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47320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85632" y="4709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เผยแพร่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85632" y="502005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ตรวจชื่อ ราคา สต็อก และน้ำหนักก่อน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แบนเนอร์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จัดการแบนเนอร์หน้าร้าน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เพิ่มรายการใหม่ เปิดหรือปิดการแสดงผล และแก้ไขรายการเดิม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9280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เพิ่มแบนเนอร์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542032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697480"/>
            <a:ext cx="3044952" cy="1325880"/>
          </a:xfrm>
          <a:prstGeom prst="roundRect">
            <a:avLst>
              <a:gd name="adj" fmla="val 8276"/>
            </a:avLst>
          </a:prstGeom>
          <a:solidFill>
            <a:srgbClr val="EAF5F1"/>
          </a:solidFill>
          <a:ln w="12700">
            <a:solidFill>
              <a:srgbClr val="EA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CAMPAIGN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แคมเปญประจำเดือน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129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กำลังแสดง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45902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2459736"/>
            <a:ext cx="347472" cy="34747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64308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35424" y="2542032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697480"/>
            <a:ext cx="3044952" cy="1325880"/>
          </a:xfrm>
          <a:prstGeom prst="roundRect">
            <a:avLst>
              <a:gd name="adj" fmla="val 8276"/>
            </a:avLst>
          </a:prstGeom>
          <a:solidFill>
            <a:srgbClr val="F9ECF4"/>
          </a:solidFill>
          <a:ln w="12700">
            <a:solidFill>
              <a:srgbClr val="F9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PROMOTION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โปรโมชันสินค้า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3348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✎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ปิดการแสดง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24344" y="45902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96912" y="2459736"/>
            <a:ext cx="347472" cy="347472"/>
          </a:xfrm>
          <a:prstGeom prst="ellipse">
            <a:avLst/>
          </a:prstGeom>
          <a:solidFill>
            <a:srgbClr val="B52B82"/>
          </a:solidFill>
          <a:ln w="12700">
            <a:solidFill>
              <a:srgbClr val="B52B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2464308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57616" y="2542032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2697480"/>
            <a:ext cx="3044952" cy="1325880"/>
          </a:xfrm>
          <a:prstGeom prst="roundRect">
            <a:avLst>
              <a:gd name="adj" fmla="val 8276"/>
            </a:avLst>
          </a:prstGeom>
          <a:solidFill>
            <a:srgbClr val="F8F6EF"/>
          </a:solidFill>
          <a:ln w="12700">
            <a:solidFill>
              <a:srgbClr val="F8F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193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9A2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NEWS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77072" y="4242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ข่าวสารร้าน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✎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77072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กำลังแสดง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46536" y="45902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19104" y="2459736"/>
            <a:ext cx="347472" cy="347472"/>
          </a:xfrm>
          <a:prstGeom prst="ellipse">
            <a:avLst/>
          </a:prstGeom>
          <a:solidFill>
            <a:srgbClr val="087B68"/>
          </a:solidFill>
          <a:ln w="12700">
            <a:solidFill>
              <a:srgbClr val="087B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19104" y="2464308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65099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 เพิ่มภาพ    →    2  เปิด / ปิด    →    3  แก้ไขด้วยไอคอนดินสอ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 / ตั้งค่า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ตรวจการจัดส่งและชำระเงิน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ค่าที่เห็นเป็นข้อมูลตัวอย่าง ให้ตรวจข้อมูลจริงก่อนเปิดใช้งาน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6654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จัดส่ง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234086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ส่งปกติ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2770632"/>
            <a:ext cx="476402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ค่าจัดส่ง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เกณฑ์ส่งฟรี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พื้นที่ให้บริการ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06654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จัดส่ง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64808" y="234086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ส่งด่วน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64808" y="2770632"/>
            <a:ext cx="476402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ค่าจัดส่ง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เกณฑ์ส่งฟรี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พื้นที่ให้บริการ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5532120"/>
            <a:ext cx="10744200" cy="566928"/>
          </a:xfrm>
          <a:prstGeom prst="roundRect">
            <a:avLst>
              <a:gd name="adj" fmla="val 19355"/>
            </a:avLst>
          </a:prstGeom>
          <a:solidFill>
            <a:srgbClr val="F9ECF4"/>
          </a:solidFill>
          <a:ln w="12700">
            <a:solidFill>
              <a:srgbClr val="E9C9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6601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วิธีชำระเงิน: ตรวจเบอร์ PromptPay และสถานะเปิดใช้ PromptPay / COD ก่อนรับออเดอร์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ส่งมอบ / เช็กลิสต์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ตรวจร่วมกับผู้รับมอบ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ใช้ข้อมูลทดสอบที่ได้รับอนุญาต และตรวจเงินจริงก่อนอนุมัติการชำระ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0948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SOULMATE  •  คู่มือส่งมอบ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EAF5F1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20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2295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หน้าร้าน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2724912"/>
            <a:ext cx="47640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เปิดสินค้า ตะกร้า และ Checkout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ทดสอบส่งปกติ / ส่งด่วน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 PromptPay / COD ที่เปิดใช้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เทียบราคา ส่วนลด ค่าส่ง และยอดรวม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020824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2B8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แอดมิน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64808" y="2295144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หลังบ้าน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64808" y="2724912"/>
            <a:ext cx="47640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 Orders และ Fulfillment ตามสิทธิ์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ตรวจเงินเข้าจริง และยืนยัน COD ก่อนเตรียม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ออกเอกสาร เปลี่ยนสถานะ และบันทึก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5468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B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ข้อมูลที่ต้องรับมอบ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5440680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746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บัญชี / role • ที่อยู่และเบอร์ผู้ส่ง/คืน • PromptPay • ค่าส่งและเกณฑ์ส่งฟรี • สินค้าและสต็อก • Privacy / Terms • แบนเนอร์และคูปอง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" y="605332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40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ผลทดสอบ Emulator ไม่ยืนยันการตั้งค่า Production หรือการรับเงินจริง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SOULMATE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SOULMATE | คู่มือการใช้งานและส่งมอบ - Draft 2</dc:title>
  <dc:subject>คู่มือการใช้งานและส่งมอบระบบ</dc:subject>
  <dc:creator>SOULMATE</dc:creator>
  <cp:lastModifiedBy>SOULMATE</cp:lastModifiedBy>
  <cp:revision>1</cp:revision>
  <dcterms:created xsi:type="dcterms:W3CDTF">2026-10-19T21:31:18Z</dcterms:created>
  <dcterms:modified xsi:type="dcterms:W3CDTF">2026-10-19T21:31:18Z</dcterms:modified>
</cp:coreProperties>
</file>